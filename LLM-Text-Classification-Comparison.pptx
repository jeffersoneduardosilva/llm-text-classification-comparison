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6cf2737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6cf2737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6cf273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6cf273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a6cf2737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a6cf273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c5f267e6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c5f267e6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a6cf273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a6cf273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c5f267e6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c5f267e6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6cf273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a6cf273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5f267e6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5f267e6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6cf273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a6cf273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c5f267e6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c5f267e6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c5f267e6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c5f267e6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a6cf2737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a6cf2737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6cf2737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a6cf2737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6cf2737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a6cf2737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a6cf2737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a6cf273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colab.research.google.com/drive/1Mn1hrKbGQkq_jUVwTSVa39ZpG_bi8fj2?usp=sharing#scrollTo=NQYlOG69-Fq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://arxiv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080"/>
              <a:t>Comparação de Técnicas de Classificação de Texto em LLMs: Zero-Shot, Fine-Tuning e RAG</a:t>
            </a:r>
            <a:endParaRPr sz="30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380"/>
              <a:t>Comparativo de Estratégias de LLMs para Classificação em Domínios Técnicos</a:t>
            </a:r>
            <a:endParaRPr sz="13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Disciplina : Modelos de Linguagem e Generativos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Curso: Mestrado Profissional em Computação Aplicada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 Rogério - Dezembro 2025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175" y="3880250"/>
            <a:ext cx="5784300" cy="11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859500" y="1204650"/>
            <a:ext cx="7865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Desafio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Vanilla LLM 1. Implemente uma solução de Text Zero-Shot Classification com dados de um dos sites https://www.gutenberg.org/, http://arxiv.org/, https://www.imdb.com/ ou bulário eletrônico (https://consultas.anvisa.gov.br/#/bulario/). A solução deve mostrar e comparar os resultados (métricas) do modelo original e de uma solução com fine-tuning ou RAG (Retrieval-Augmented Generation).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Link colab: </a:t>
            </a:r>
            <a:br>
              <a:rPr lang="pt-BR"/>
            </a:br>
            <a:r>
              <a:rPr lang="pt-BR" u="sng">
                <a:solidFill>
                  <a:schemeClr val="hlink"/>
                </a:solidFill>
                <a:hlinkClick r:id="rId4"/>
              </a:rPr>
              <a:t>https://colab.research.google.com/drive/1Mn1hrKbGQkq_jUVwTSVa39ZpG_bi8fj2?usp=sharing#scrollTo=NQYlOG69-FqO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649700" y="988100"/>
            <a:ext cx="70941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O Problema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 Desafio da Classificação Técnica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Caso de Uso: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Classificar resumos de artigos científicos do arXiv </a:t>
            </a:r>
            <a:r>
              <a:rPr lang="pt-BR" sz="1100" u="sng">
                <a:solidFill>
                  <a:schemeClr val="hlink"/>
                </a:solidFill>
                <a:hlinkClick r:id="rId4"/>
              </a:rPr>
              <a:t>http://arxiv.org/</a:t>
            </a: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Classes Alvo: Inteligência Artificial (AI “Categoria **`cs.AI`**”) vs. Machine Learning (ML “Categoria **`cs.LG`**”).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Pontos-chave: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AI e ML são subdomínios altamente correlacionados.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Grande sobreposição de vocabulário (ex: "Redes Neurais", "Otimização").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O conhecimento genérico dos LLMs é suficiente?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771550" y="933950"/>
            <a:ext cx="69384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Dataset e Metodologia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Dados e Preparação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Fonte: API do arXiv (cs.AI e cs.LG).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Volume Total: 1.000 Artigos (Título + Abstract).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Balanceamento: 500 AI / 500 ML.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Métricas: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F1 Macro Score: Métrica principal, crucial para avaliar o desempenho balanceado em ambas as classes (AI e ML).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Accuracy (Acurácia).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771550" y="933950"/>
            <a:ext cx="69384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Dataset e Metodologia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150" y="1267250"/>
            <a:ext cx="5515725" cy="3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805375" y="988100"/>
            <a:ext cx="68571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As 3 Estratégias Avaliadas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1. Zero-Shot:</a:t>
            </a:r>
            <a:r>
              <a:rPr lang="pt-BR" sz="1100">
                <a:solidFill>
                  <a:schemeClr val="dk1"/>
                </a:solidFill>
              </a:rPr>
              <a:t> Classificação por Inferência de Linguagem Natural (NLI). Custo de Treino: Custo Zero.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Classificação Base (Zero-Shot)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Detalhes: Modelo: facebook/bart-large-mnli. Mecanismo: O modelo usa seu conhecimento pré-treinado em NLI para inferir a relação entre o resumo e os rótulos 'AI' ou 'ML'.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Resultado: Acurácia: ≈ 49.5% F1 Macro Score: ≈ 0.48 Conclusão: O modelo genérico falha na distinção. O desempenho é próximo ao acaso.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805375" y="988100"/>
            <a:ext cx="68502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Zero-Shot:</a:t>
            </a:r>
            <a:r>
              <a:rPr lang="pt-BR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250" y="443150"/>
            <a:ext cx="2468100" cy="40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805375" y="988100"/>
            <a:ext cx="68571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As 3 Estratégias Avaliadas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2. Fine-Tuning:</a:t>
            </a:r>
            <a:r>
              <a:rPr lang="pt-BR" sz="1100">
                <a:solidFill>
                  <a:schemeClr val="dk1"/>
                </a:solidFill>
              </a:rPr>
              <a:t> Ajuste supervisionado de pesos do modelo aos dados específicos. Custo de Treino: Alto (Exige GPU e tempo).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Detalhes: Modelo Base: SciBERT (allenai/scibert_scivocab_uncased). Vantagem SciBERT: Pré-treinado em literatura científica, otimizando o vocabulário. Treinamento: Supervisionado (800 exemplos) por 3 épocas.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Resultado: Acurácia: </a:t>
            </a:r>
            <a:r>
              <a:rPr b="1" lang="pt-BR" sz="1100">
                <a:solidFill>
                  <a:schemeClr val="dk1"/>
                </a:solidFill>
              </a:rPr>
              <a:t>62.0%</a:t>
            </a:r>
            <a:r>
              <a:rPr lang="pt-BR" sz="1100">
                <a:solidFill>
                  <a:schemeClr val="dk1"/>
                </a:solidFill>
              </a:rPr>
              <a:t> F1 Macro Score: </a:t>
            </a:r>
            <a:r>
              <a:rPr b="1" lang="pt-BR" sz="1100">
                <a:solidFill>
                  <a:schemeClr val="dk1"/>
                </a:solidFill>
              </a:rPr>
              <a:t>0.615</a:t>
            </a:r>
            <a:r>
              <a:rPr lang="pt-BR" sz="1100">
                <a:solidFill>
                  <a:schemeClr val="dk1"/>
                </a:solidFill>
              </a:rPr>
              <a:t> Conclusão: O ajuste supervisionado ao domínio é a rota para o melhor desempenho, mas exige alto investimento em recursos.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805375" y="988100"/>
            <a:ext cx="68571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Fine-Tuning: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6475" y="697775"/>
            <a:ext cx="3564425" cy="41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/>
          <p:nvPr/>
        </p:nvSpPr>
        <p:spPr>
          <a:xfrm>
            <a:off x="805375" y="988100"/>
            <a:ext cx="68571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As 3 Estratégias Avaliadas</a:t>
            </a:r>
            <a:br>
              <a:rPr lang="pt-BR" sz="1100">
                <a:solidFill>
                  <a:schemeClr val="dk1"/>
                </a:solidFill>
              </a:rPr>
            </a:br>
            <a:br>
              <a:rPr lang="pt-BR" sz="1100">
                <a:solidFill>
                  <a:schemeClr val="dk1"/>
                </a:solidFill>
              </a:rPr>
            </a:br>
            <a:r>
              <a:rPr b="1" lang="pt-BR" sz="1100">
                <a:solidFill>
                  <a:schemeClr val="dk1"/>
                </a:solidFill>
              </a:rPr>
              <a:t>3. RAG </a:t>
            </a:r>
            <a:r>
              <a:rPr lang="pt-BR" sz="1100">
                <a:solidFill>
                  <a:schemeClr val="dk1"/>
                </a:solidFill>
              </a:rPr>
              <a:t>Retrieval-Augmented Classification (Solução Híbrida) </a:t>
            </a:r>
            <a:r>
              <a:rPr b="1" lang="pt-BR" sz="1100">
                <a:solidFill>
                  <a:schemeClr val="dk1"/>
                </a:solidFill>
              </a:rPr>
              <a:t>:</a:t>
            </a:r>
            <a:r>
              <a:rPr lang="pt-BR" sz="1100">
                <a:solidFill>
                  <a:schemeClr val="dk1"/>
                </a:solidFill>
              </a:rPr>
              <a:t> Aumento do prompt com contexto de busca semântica (FAISS). Custo de Treino: Baixo/Médio (Somente custo de indexação).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Detalhes da Implementação: </a:t>
            </a:r>
            <a:r>
              <a:rPr b="1" lang="pt-BR" sz="1100">
                <a:solidFill>
                  <a:schemeClr val="dk1"/>
                </a:solidFill>
              </a:rPr>
              <a:t>Modelos:</a:t>
            </a:r>
            <a:r>
              <a:rPr lang="pt-BR" sz="1100">
                <a:solidFill>
                  <a:schemeClr val="dk1"/>
                </a:solidFill>
              </a:rPr>
              <a:t> Combina Embeddings (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all-mpnet-base-v2</a:t>
            </a:r>
            <a:r>
              <a:rPr lang="pt-BR" sz="1100">
                <a:solidFill>
                  <a:schemeClr val="dk1"/>
                </a:solidFill>
              </a:rPr>
              <a:t>) + </a:t>
            </a:r>
            <a:r>
              <a:rPr b="1" lang="pt-BR" sz="1100">
                <a:solidFill>
                  <a:schemeClr val="dk1"/>
                </a:solidFill>
              </a:rPr>
              <a:t>Zero-Shot Classifier</a:t>
            </a:r>
            <a:r>
              <a:rPr lang="pt-BR" sz="1100">
                <a:solidFill>
                  <a:schemeClr val="dk1"/>
                </a:solidFill>
              </a:rPr>
              <a:t> (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BART-MNLI</a:t>
            </a:r>
            <a:r>
              <a:rPr lang="pt-BR" sz="1100">
                <a:solidFill>
                  <a:schemeClr val="dk1"/>
                </a:solidFill>
              </a:rPr>
              <a:t>). </a:t>
            </a:r>
            <a:r>
              <a:rPr b="1" lang="pt-BR" sz="1100">
                <a:solidFill>
                  <a:schemeClr val="dk1"/>
                </a:solidFill>
              </a:rPr>
              <a:t>Mecanismo:</a:t>
            </a:r>
            <a:r>
              <a:rPr lang="pt-BR" sz="1100">
                <a:solidFill>
                  <a:schemeClr val="dk1"/>
                </a:solidFill>
              </a:rPr>
              <a:t> Utiliza </a:t>
            </a:r>
            <a:r>
              <a:rPr b="1" lang="pt-BR" sz="1100">
                <a:solidFill>
                  <a:schemeClr val="dk1"/>
                </a:solidFill>
              </a:rPr>
              <a:t>FAISS</a:t>
            </a:r>
            <a:r>
              <a:rPr lang="pt-BR" sz="1100">
                <a:solidFill>
                  <a:schemeClr val="dk1"/>
                </a:solidFill>
              </a:rPr>
              <a:t> (índice vetorial) para buscar os </a:t>
            </a:r>
            <a:r>
              <a:rPr b="1" lang="pt-BR" sz="1100">
                <a:solidFill>
                  <a:schemeClr val="dk1"/>
                </a:solidFill>
              </a:rPr>
              <a:t>K=5</a:t>
            </a:r>
            <a:r>
              <a:rPr lang="pt-BR" sz="1100">
                <a:solidFill>
                  <a:schemeClr val="dk1"/>
                </a:solidFill>
              </a:rPr>
              <a:t> vizinhos mais similares do corpus completo. </a:t>
            </a:r>
            <a:r>
              <a:rPr b="1" lang="pt-BR" sz="1100">
                <a:solidFill>
                  <a:schemeClr val="dk1"/>
                </a:solidFill>
              </a:rPr>
              <a:t>Processo:</a:t>
            </a:r>
            <a:r>
              <a:rPr lang="pt-BR" sz="1100">
                <a:solidFill>
                  <a:schemeClr val="dk1"/>
                </a:solidFill>
              </a:rPr>
              <a:t> O texto original é </a:t>
            </a:r>
            <a:r>
              <a:rPr b="1" lang="pt-BR" sz="1100">
                <a:solidFill>
                  <a:schemeClr val="dk1"/>
                </a:solidFill>
              </a:rPr>
              <a:t>aumentado</a:t>
            </a:r>
            <a:r>
              <a:rPr lang="pt-BR" sz="1100">
                <a:solidFill>
                  <a:schemeClr val="dk1"/>
                </a:solidFill>
              </a:rPr>
              <a:t> com o contexto (e rótulos) dos vizinhos e enviado ao BART para inferência. </a:t>
            </a:r>
            <a:r>
              <a:rPr b="1" lang="pt-BR" sz="1100">
                <a:solidFill>
                  <a:schemeClr val="dk1"/>
                </a:solidFill>
              </a:rPr>
              <a:t>Objetivo:</a:t>
            </a:r>
            <a:r>
              <a:rPr lang="pt-BR" sz="1100">
                <a:solidFill>
                  <a:schemeClr val="dk1"/>
                </a:solidFill>
              </a:rPr>
              <a:t> Melhorar a decisão do Zero-Shot fornecendo </a:t>
            </a:r>
            <a:r>
              <a:rPr b="1" lang="pt-BR" sz="1100">
                <a:solidFill>
                  <a:schemeClr val="dk1"/>
                </a:solidFill>
              </a:rPr>
              <a:t>conhecimento de domínio</a:t>
            </a:r>
            <a:r>
              <a:rPr lang="pt-BR" sz="1100">
                <a:solidFill>
                  <a:schemeClr val="dk1"/>
                </a:solidFill>
              </a:rPr>
              <a:t> via contexto, sem Fine-Tuning.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Resultado: Acurácia: </a:t>
            </a:r>
            <a:r>
              <a:rPr b="1" lang="pt-BR" sz="1100">
                <a:solidFill>
                  <a:schemeClr val="dk1"/>
                </a:solidFill>
              </a:rPr>
              <a:t>57.5%</a:t>
            </a:r>
            <a:r>
              <a:rPr lang="pt-BR" sz="1100">
                <a:solidFill>
                  <a:schemeClr val="dk1"/>
                </a:solidFill>
              </a:rPr>
              <a:t> F1 Macro Score: </a:t>
            </a:r>
            <a:r>
              <a:rPr b="1" lang="pt-BR" sz="1100">
                <a:solidFill>
                  <a:schemeClr val="dk1"/>
                </a:solidFill>
              </a:rPr>
              <a:t>0.563</a:t>
            </a:r>
            <a:r>
              <a:rPr lang="pt-BR" sz="1100">
                <a:solidFill>
                  <a:schemeClr val="dk1"/>
                </a:solidFill>
              </a:rPr>
              <a:t> Conclusão: Demonstra o potencial do </a:t>
            </a:r>
            <a:r>
              <a:rPr b="1" lang="pt-BR" sz="1100">
                <a:solidFill>
                  <a:schemeClr val="dk1"/>
                </a:solidFill>
              </a:rPr>
              <a:t>RAG</a:t>
            </a:r>
            <a:r>
              <a:rPr lang="pt-BR" sz="1100">
                <a:solidFill>
                  <a:schemeClr val="dk1"/>
                </a:solidFill>
              </a:rPr>
              <a:t> como um "atalho inteligente", superando significativamente o Zero-Shot puro ao introduzir contexto especializado.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805375" y="988100"/>
            <a:ext cx="68571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RAG: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4150" y="1052350"/>
            <a:ext cx="5226525" cy="33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/>
        </p:nvSpPr>
        <p:spPr>
          <a:xfrm>
            <a:off x="805375" y="988100"/>
            <a:ext cx="68571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RAG: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450" y="341750"/>
            <a:ext cx="3456174" cy="46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832425" y="988125"/>
            <a:ext cx="69249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Comparativo de Performance (Resultados Finais)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F1 Macro Score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Fine-Tuning (SciBERT): </a:t>
            </a:r>
            <a:r>
              <a:rPr b="1" lang="pt-BR" sz="1100">
                <a:solidFill>
                  <a:schemeClr val="dk1"/>
                </a:solidFill>
              </a:rPr>
              <a:t>62.0%</a:t>
            </a:r>
            <a:r>
              <a:rPr lang="pt-BR" sz="1100">
                <a:solidFill>
                  <a:schemeClr val="dk1"/>
                </a:solidFill>
              </a:rPr>
              <a:t> de Acurácia / </a:t>
            </a:r>
            <a:r>
              <a:rPr b="1" lang="pt-BR" sz="1100">
                <a:solidFill>
                  <a:schemeClr val="dk1"/>
                </a:solidFill>
              </a:rPr>
              <a:t>0.615</a:t>
            </a:r>
            <a:r>
              <a:rPr lang="pt-BR" sz="1100">
                <a:solidFill>
                  <a:schemeClr val="dk1"/>
                </a:solidFill>
              </a:rPr>
              <a:t> F1 Macro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RAG (BART + Contexto): 57.5% de Acurácia / 0.563 F1 Macro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Zero-Shot (BART Puro): 49.5% de Acurácia / 0.482 F1 Macro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 Salto do RAG: O RAG aumentou o F1 Score em </a:t>
            </a:r>
            <a:r>
              <a:rPr b="1" lang="pt-BR" sz="1100">
                <a:solidFill>
                  <a:schemeClr val="dk1"/>
                </a:solidFill>
              </a:rPr>
              <a:t>8.1 pontos percentuais</a:t>
            </a:r>
            <a:r>
              <a:rPr lang="pt-BR" sz="1100">
                <a:solidFill>
                  <a:schemeClr val="dk1"/>
                </a:solidFill>
              </a:rPr>
              <a:t> em relação ao Zero-Shot puro.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O Trade-off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Escolhendo a Estratégia Certa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Para Performance Máxima: Fine-Tuning (SciBERT). Se você tem GPU / Dados Rotulados. Para Eficiência / Contexto: RAG (Embeddings + Zero-Shot). Se você não tem dados suficientes / Precisa de agilidade. Para Baseline / Tarefa Genérica: Zero-Shot. Se custo zero é a prioridade.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575275" y="1315650"/>
            <a:ext cx="81564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Aplicações no Mundo Real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Onde o Experimento se Aplica?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Setor Financeiro (RAG): Uso: Classificação de documentos legais, relatórios de risco ou notícias de mercado. Benefício: RAG garante contexto e precisão com corpus regulatório interno sem Fine-Tuning constante.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Setor de Saúde/Farmacêutico (Fine-Tuning/RAG): Uso: Classificação rápida de ensaios clínicos, patentes ou artigos de pesquisa. Benefício: Fine-Tuning para o vocabulário médico/científico aumenta a precisão.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Manufatura/Engenharia (RAG): Uso: Organização e catalogação de tickets de suporte ou relatórios de falha de equipamentos. Benefício: RAG classifica novos problemas com base no histórico e vocabulário técnico de falhas passadas.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575275" y="1315650"/>
            <a:ext cx="8156400" cy="24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Alunos envolvidos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Jefferson Eduardo da Silva - RA 10751463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Newton Alves Peixoto Neto - RA 10751466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Gustavo Lima de Carvalho - RA 10751465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Luiz Carlos Grandisoli - RA 10756587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Matheus Inoue - RA 10751469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Paula Rodrigues dos Santos - RA 10751464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025" y="4456700"/>
            <a:ext cx="3370100" cy="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/>
        </p:nvSpPr>
        <p:spPr>
          <a:xfrm>
            <a:off x="575275" y="1315650"/>
            <a:ext cx="8156400" cy="3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Mais detalhes aqui…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54864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Dúvidas</a:t>
            </a:r>
            <a:r>
              <a:rPr lang="pt-BR" sz="1100">
                <a:solidFill>
                  <a:schemeClr val="dk1"/>
                </a:solidFill>
              </a:rPr>
              <a:t> estamos a disposição.</a:t>
            </a:r>
            <a:endParaRPr sz="1100">
              <a:solidFill>
                <a:schemeClr val="dk1"/>
              </a:solidFill>
            </a:endParaRPr>
          </a:p>
          <a:p>
            <a:pPr indent="0" lvl="0" marL="54864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Obrigado!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6325" y="1755625"/>
            <a:ext cx="2139650" cy="20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